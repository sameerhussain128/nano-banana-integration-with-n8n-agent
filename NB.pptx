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58" r:id="rId3"/>
    <p:sldId id="259" r:id="rId4"/>
    <p:sldId id="260" r:id="rId5"/>
    <p:sldId id="266" r:id="rId6"/>
    <p:sldId id="267" r:id="rId7"/>
    <p:sldId id="268" r:id="rId8"/>
    <p:sldId id="264" r:id="rId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9882F-A3FB-4610-89F7-487EB2CEC3AE}" v="366" dt="2025-09-20T16:57:25.708"/>
    <p1510:client id="{4A7F674B-DA4F-4E93-9BA7-2EC00B8B7260}" v="217" dt="2025-09-20T19:50:16.344"/>
    <p1510:client id="{534F4EB8-C182-4CFC-A5A7-F7B877105648}" v="898" dt="2025-09-20T19:29:43.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365"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86A17F6-FD66-46E2-A038-14AF113B775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9381241-7C54-44F2-BC88-A27D203775B9}">
      <dgm:prSet custT="1"/>
      <dgm:spPr/>
      <dgm:t>
        <a:bodyPr/>
        <a:lstStyle/>
        <a:p>
          <a:pPr>
            <a:lnSpc>
              <a:spcPct val="100000"/>
            </a:lnSpc>
          </a:pPr>
          <a:r>
            <a:rPr lang="en-GB" sz="2000" b="1" dirty="0"/>
            <a:t>Google's Nano Banana is an advanced AI image editing model introduced as part of the Gemini 2.5 Flash Image suite by Google DeepMind. Launched in August 2025.</a:t>
          </a:r>
          <a:endParaRPr lang="en-US" sz="2000" dirty="0"/>
        </a:p>
      </dgm:t>
    </dgm:pt>
    <dgm:pt modelId="{FC33B64F-2EA8-4DAB-9BDD-0D7D69B91B83}" type="parTrans" cxnId="{B67624A7-DDA0-4A86-AEE2-60A2BAE5C5F9}">
      <dgm:prSet/>
      <dgm:spPr/>
      <dgm:t>
        <a:bodyPr/>
        <a:lstStyle/>
        <a:p>
          <a:endParaRPr lang="en-US"/>
        </a:p>
      </dgm:t>
    </dgm:pt>
    <dgm:pt modelId="{FD917248-92CE-4558-9853-B9BB4B29D80C}" type="sibTrans" cxnId="{B67624A7-DDA0-4A86-AEE2-60A2BAE5C5F9}">
      <dgm:prSet/>
      <dgm:spPr/>
      <dgm:t>
        <a:bodyPr/>
        <a:lstStyle/>
        <a:p>
          <a:endParaRPr lang="en-US"/>
        </a:p>
      </dgm:t>
    </dgm:pt>
    <dgm:pt modelId="{666BA179-930E-4C71-A54C-8F2A88EB1086}">
      <dgm:prSet/>
      <dgm:spPr/>
      <dgm:t>
        <a:bodyPr/>
        <a:lstStyle/>
        <a:p>
          <a:pPr>
            <a:lnSpc>
              <a:spcPct val="100000"/>
            </a:lnSpc>
          </a:pPr>
          <a:r>
            <a:rPr lang="en-GB" sz="2000" b="1" dirty="0"/>
            <a:t>Edit Images with Text</a:t>
          </a:r>
          <a:r>
            <a:rPr lang="en-GB" sz="2000" dirty="0"/>
            <a:t>: Modify photos by describing changes in natural language. For instance, you can prompt it to "turn this selfie into a cinematic studio portrait" or "add a soft shadow underneath the shoes."</a:t>
          </a:r>
          <a:endParaRPr lang="en-US" sz="2000" dirty="0"/>
        </a:p>
      </dgm:t>
    </dgm:pt>
    <dgm:pt modelId="{DD0595E3-806A-4415-84A5-E08BBB6B1C53}" type="parTrans" cxnId="{C357AA18-8E61-4E6A-8A7A-0271160BE4F7}">
      <dgm:prSet/>
      <dgm:spPr/>
      <dgm:t>
        <a:bodyPr/>
        <a:lstStyle/>
        <a:p>
          <a:endParaRPr lang="en-US"/>
        </a:p>
      </dgm:t>
    </dgm:pt>
    <dgm:pt modelId="{70A9589F-EA66-42E9-8F17-ABAC2B4C3B24}" type="sibTrans" cxnId="{C357AA18-8E61-4E6A-8A7A-0271160BE4F7}">
      <dgm:prSet/>
      <dgm:spPr/>
      <dgm:t>
        <a:bodyPr/>
        <a:lstStyle/>
        <a:p>
          <a:endParaRPr lang="en-US"/>
        </a:p>
      </dgm:t>
    </dgm:pt>
    <dgm:pt modelId="{3B131C85-67F2-4445-A413-9D5D8DE0AAA1}">
      <dgm:prSet/>
      <dgm:spPr/>
      <dgm:t>
        <a:bodyPr/>
        <a:lstStyle/>
        <a:p>
          <a:pPr>
            <a:lnSpc>
              <a:spcPct val="100000"/>
            </a:lnSpc>
          </a:pPr>
          <a:r>
            <a:rPr lang="en-GB" sz="2000" b="1" dirty="0"/>
            <a:t>Maintain Character Consistency</a:t>
          </a:r>
          <a:r>
            <a:rPr lang="en-GB" sz="2000" dirty="0"/>
            <a:t>: Ensure that subjects remain consistent across different poses, lighting, and environments, preserving their likeness in various edits.</a:t>
          </a:r>
          <a:endParaRPr lang="en-US" sz="2000" dirty="0"/>
        </a:p>
      </dgm:t>
    </dgm:pt>
    <dgm:pt modelId="{1EF689E0-4045-42AB-9164-32359ADD300F}" type="parTrans" cxnId="{35FD2F0C-24B0-48C0-BE03-F1962EA56CC7}">
      <dgm:prSet/>
      <dgm:spPr/>
      <dgm:t>
        <a:bodyPr/>
        <a:lstStyle/>
        <a:p>
          <a:endParaRPr lang="en-US"/>
        </a:p>
      </dgm:t>
    </dgm:pt>
    <dgm:pt modelId="{60336402-2FD0-414D-846D-D7EDC68DAA6E}" type="sibTrans" cxnId="{35FD2F0C-24B0-48C0-BE03-F1962EA56CC7}">
      <dgm:prSet/>
      <dgm:spPr/>
      <dgm:t>
        <a:bodyPr/>
        <a:lstStyle/>
        <a:p>
          <a:endParaRPr lang="en-US"/>
        </a:p>
      </dgm:t>
    </dgm:pt>
    <dgm:pt modelId="{78E7BE43-F768-4DAA-87E1-F2E7FA933A23}">
      <dgm:prSet/>
      <dgm:spPr/>
      <dgm:t>
        <a:bodyPr/>
        <a:lstStyle/>
        <a:p>
          <a:pPr>
            <a:lnSpc>
              <a:spcPct val="100000"/>
            </a:lnSpc>
          </a:pPr>
          <a:r>
            <a:rPr lang="en-GB" sz="2000" b="1" dirty="0"/>
            <a:t>Blend Multiple Images</a:t>
          </a:r>
          <a:r>
            <a:rPr lang="en-GB" sz="2000" dirty="0"/>
            <a:t>: Combine elements from different photos to create unique, unified compositions.</a:t>
          </a:r>
          <a:endParaRPr lang="en-US" sz="2000" dirty="0"/>
        </a:p>
      </dgm:t>
    </dgm:pt>
    <dgm:pt modelId="{A0EEB0E5-2C45-43E3-B934-3CE95FA19E7B}" type="parTrans" cxnId="{91222075-9AAD-430E-8BD5-172EAA7C6204}">
      <dgm:prSet/>
      <dgm:spPr/>
      <dgm:t>
        <a:bodyPr/>
        <a:lstStyle/>
        <a:p>
          <a:endParaRPr lang="en-US"/>
        </a:p>
      </dgm:t>
    </dgm:pt>
    <dgm:pt modelId="{56E94649-4EF4-4542-B13B-303B88B7AB4F}" type="sibTrans" cxnId="{91222075-9AAD-430E-8BD5-172EAA7C6204}">
      <dgm:prSet/>
      <dgm:spPr/>
      <dgm:t>
        <a:bodyPr/>
        <a:lstStyle/>
        <a:p>
          <a:endParaRPr lang="en-US"/>
        </a:p>
      </dgm:t>
    </dgm:pt>
    <dgm:pt modelId="{7146A196-D2AE-448F-96E6-AD4DC69F36FD}">
      <dgm:prSet/>
      <dgm:spPr/>
      <dgm:t>
        <a:bodyPr/>
        <a:lstStyle/>
        <a:p>
          <a:pPr>
            <a:lnSpc>
              <a:spcPct val="100000"/>
            </a:lnSpc>
          </a:pPr>
          <a:r>
            <a:rPr lang="en-GB" sz="2000" b="1" dirty="0"/>
            <a:t>Real-World Reasoning</a:t>
          </a:r>
          <a:r>
            <a:rPr lang="en-GB" sz="2000" dirty="0"/>
            <a:t>: Apply real-world logic to edits, such as adjusting lighting or shadows to match the scene's context.</a:t>
          </a:r>
          <a:endParaRPr lang="en-US" sz="2000" dirty="0"/>
        </a:p>
      </dgm:t>
    </dgm:pt>
    <dgm:pt modelId="{F841DE0C-C6F6-4EC8-AD0E-5B8E8E0D7592}" type="parTrans" cxnId="{23E3CA05-12B4-44FD-BE36-4300CFBB1E2F}">
      <dgm:prSet/>
      <dgm:spPr/>
      <dgm:t>
        <a:bodyPr/>
        <a:lstStyle/>
        <a:p>
          <a:endParaRPr lang="en-US"/>
        </a:p>
      </dgm:t>
    </dgm:pt>
    <dgm:pt modelId="{FCEA4CCC-6E3C-4461-A315-69482B528932}" type="sibTrans" cxnId="{23E3CA05-12B4-44FD-BE36-4300CFBB1E2F}">
      <dgm:prSet/>
      <dgm:spPr/>
      <dgm:t>
        <a:bodyPr/>
        <a:lstStyle/>
        <a:p>
          <a:endParaRPr lang="en-US"/>
        </a:p>
      </dgm:t>
    </dgm:pt>
    <dgm:pt modelId="{4B90B3BC-2A31-4A79-A226-B57CEC824E37}" type="pres">
      <dgm:prSet presAssocID="{186A17F6-FD66-46E2-A038-14AF113B7753}" presName="root" presStyleCnt="0">
        <dgm:presLayoutVars>
          <dgm:dir/>
          <dgm:resizeHandles val="exact"/>
        </dgm:presLayoutVars>
      </dgm:prSet>
      <dgm:spPr/>
    </dgm:pt>
    <dgm:pt modelId="{43B2A8C8-218D-4EA8-9954-D1BA29FBA13E}" type="pres">
      <dgm:prSet presAssocID="{D9381241-7C54-44F2-BC88-A27D203775B9}" presName="compNode" presStyleCnt="0"/>
      <dgm:spPr/>
    </dgm:pt>
    <dgm:pt modelId="{4E31E602-8043-4E65-8F49-632CC0F53028}" type="pres">
      <dgm:prSet presAssocID="{D9381241-7C54-44F2-BC88-A27D203775B9}" presName="bgRect" presStyleLbl="bgShp" presStyleIdx="0" presStyleCnt="5"/>
      <dgm:spPr/>
    </dgm:pt>
    <dgm:pt modelId="{36F811F8-5A3D-4F14-A180-1EB38318A3F4}" type="pres">
      <dgm:prSet presAssocID="{D9381241-7C54-44F2-BC88-A27D203775B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798D7FF9-98E3-4F10-B717-07B165C6720C}" type="pres">
      <dgm:prSet presAssocID="{D9381241-7C54-44F2-BC88-A27D203775B9}" presName="spaceRect" presStyleCnt="0"/>
      <dgm:spPr/>
    </dgm:pt>
    <dgm:pt modelId="{29AF8858-C27D-4612-971E-6C47C335A490}" type="pres">
      <dgm:prSet presAssocID="{D9381241-7C54-44F2-BC88-A27D203775B9}" presName="parTx" presStyleLbl="revTx" presStyleIdx="0" presStyleCnt="5">
        <dgm:presLayoutVars>
          <dgm:chMax val="0"/>
          <dgm:chPref val="0"/>
        </dgm:presLayoutVars>
      </dgm:prSet>
      <dgm:spPr/>
    </dgm:pt>
    <dgm:pt modelId="{537CCF4E-0B81-418C-BB73-72B063569039}" type="pres">
      <dgm:prSet presAssocID="{FD917248-92CE-4558-9853-B9BB4B29D80C}" presName="sibTrans" presStyleCnt="0"/>
      <dgm:spPr/>
    </dgm:pt>
    <dgm:pt modelId="{B7719C02-5C59-4F0F-889C-3A5CDECE3BC9}" type="pres">
      <dgm:prSet presAssocID="{666BA179-930E-4C71-A54C-8F2A88EB1086}" presName="compNode" presStyleCnt="0"/>
      <dgm:spPr/>
    </dgm:pt>
    <dgm:pt modelId="{902FB0FC-84A4-4695-BEC5-567A9D2F912A}" type="pres">
      <dgm:prSet presAssocID="{666BA179-930E-4C71-A54C-8F2A88EB1086}" presName="bgRect" presStyleLbl="bgShp" presStyleIdx="1" presStyleCnt="5"/>
      <dgm:spPr/>
    </dgm:pt>
    <dgm:pt modelId="{AA99DE95-57DE-4253-B397-B3D3F199AF08}" type="pres">
      <dgm:prSet presAssocID="{666BA179-930E-4C71-A54C-8F2A88EB108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CC3E0759-C84B-498E-A887-F1E4BF593B59}" type="pres">
      <dgm:prSet presAssocID="{666BA179-930E-4C71-A54C-8F2A88EB1086}" presName="spaceRect" presStyleCnt="0"/>
      <dgm:spPr/>
    </dgm:pt>
    <dgm:pt modelId="{A2F31820-C6A9-4975-A38C-ABFAD0D45492}" type="pres">
      <dgm:prSet presAssocID="{666BA179-930E-4C71-A54C-8F2A88EB1086}" presName="parTx" presStyleLbl="revTx" presStyleIdx="1" presStyleCnt="5">
        <dgm:presLayoutVars>
          <dgm:chMax val="0"/>
          <dgm:chPref val="0"/>
        </dgm:presLayoutVars>
      </dgm:prSet>
      <dgm:spPr/>
    </dgm:pt>
    <dgm:pt modelId="{68119B36-806A-4626-8567-D51BA283A769}" type="pres">
      <dgm:prSet presAssocID="{70A9589F-EA66-42E9-8F17-ABAC2B4C3B24}" presName="sibTrans" presStyleCnt="0"/>
      <dgm:spPr/>
    </dgm:pt>
    <dgm:pt modelId="{546A5DF6-D5A4-4AC3-9F44-99E3AAC13E3F}" type="pres">
      <dgm:prSet presAssocID="{3B131C85-67F2-4445-A413-9D5D8DE0AAA1}" presName="compNode" presStyleCnt="0"/>
      <dgm:spPr/>
    </dgm:pt>
    <dgm:pt modelId="{1A22A31D-9290-49DB-9A1E-2A0DE13EC8E4}" type="pres">
      <dgm:prSet presAssocID="{3B131C85-67F2-4445-A413-9D5D8DE0AAA1}" presName="bgRect" presStyleLbl="bgShp" presStyleIdx="2" presStyleCnt="5"/>
      <dgm:spPr/>
    </dgm:pt>
    <dgm:pt modelId="{2C8B9A05-9855-4C0F-9178-8FDF9A6E173D}" type="pres">
      <dgm:prSet presAssocID="{3B131C85-67F2-4445-A413-9D5D8DE0AAA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rge paint brush"/>
        </a:ext>
      </dgm:extLst>
    </dgm:pt>
    <dgm:pt modelId="{F5B78D5C-B742-4668-83EA-F4D3D5A63480}" type="pres">
      <dgm:prSet presAssocID="{3B131C85-67F2-4445-A413-9D5D8DE0AAA1}" presName="spaceRect" presStyleCnt="0"/>
      <dgm:spPr/>
    </dgm:pt>
    <dgm:pt modelId="{CDBFB734-3FB8-48E6-BB48-B0765B33DA9B}" type="pres">
      <dgm:prSet presAssocID="{3B131C85-67F2-4445-A413-9D5D8DE0AAA1}" presName="parTx" presStyleLbl="revTx" presStyleIdx="2" presStyleCnt="5">
        <dgm:presLayoutVars>
          <dgm:chMax val="0"/>
          <dgm:chPref val="0"/>
        </dgm:presLayoutVars>
      </dgm:prSet>
      <dgm:spPr/>
    </dgm:pt>
    <dgm:pt modelId="{ADC4DEA6-FE13-4ED5-A84D-3E9FD955FDF5}" type="pres">
      <dgm:prSet presAssocID="{60336402-2FD0-414D-846D-D7EDC68DAA6E}" presName="sibTrans" presStyleCnt="0"/>
      <dgm:spPr/>
    </dgm:pt>
    <dgm:pt modelId="{AFD0D46D-BF90-41F9-86DE-710D27E11779}" type="pres">
      <dgm:prSet presAssocID="{78E7BE43-F768-4DAA-87E1-F2E7FA933A23}" presName="compNode" presStyleCnt="0"/>
      <dgm:spPr/>
    </dgm:pt>
    <dgm:pt modelId="{32F6F21D-E48C-4A3C-8BE1-4D0848CDD2E5}" type="pres">
      <dgm:prSet presAssocID="{78E7BE43-F768-4DAA-87E1-F2E7FA933A23}" presName="bgRect" presStyleLbl="bgShp" presStyleIdx="3" presStyleCnt="5"/>
      <dgm:spPr/>
    </dgm:pt>
    <dgm:pt modelId="{3A17D2CC-9BF7-492D-A191-C8182A4E78D8}" type="pres">
      <dgm:prSet presAssocID="{78E7BE43-F768-4DAA-87E1-F2E7FA933A2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mages"/>
        </a:ext>
      </dgm:extLst>
    </dgm:pt>
    <dgm:pt modelId="{CA3F72F0-C5A0-46EF-B16F-C906B86E5232}" type="pres">
      <dgm:prSet presAssocID="{78E7BE43-F768-4DAA-87E1-F2E7FA933A23}" presName="spaceRect" presStyleCnt="0"/>
      <dgm:spPr/>
    </dgm:pt>
    <dgm:pt modelId="{8E1B0A56-A581-4FC9-A2AA-EB5BFCA0252B}" type="pres">
      <dgm:prSet presAssocID="{78E7BE43-F768-4DAA-87E1-F2E7FA933A23}" presName="parTx" presStyleLbl="revTx" presStyleIdx="3" presStyleCnt="5">
        <dgm:presLayoutVars>
          <dgm:chMax val="0"/>
          <dgm:chPref val="0"/>
        </dgm:presLayoutVars>
      </dgm:prSet>
      <dgm:spPr/>
    </dgm:pt>
    <dgm:pt modelId="{F287DAE4-B5A4-4C21-AAB9-4C69A3193E85}" type="pres">
      <dgm:prSet presAssocID="{56E94649-4EF4-4542-B13B-303B88B7AB4F}" presName="sibTrans" presStyleCnt="0"/>
      <dgm:spPr/>
    </dgm:pt>
    <dgm:pt modelId="{6F25D4D2-CA23-40E6-B0DB-225D24ACB7EB}" type="pres">
      <dgm:prSet presAssocID="{7146A196-D2AE-448F-96E6-AD4DC69F36FD}" presName="compNode" presStyleCnt="0"/>
      <dgm:spPr/>
    </dgm:pt>
    <dgm:pt modelId="{CEE4F905-296E-4F3A-AB7F-1A1D7E008F0A}" type="pres">
      <dgm:prSet presAssocID="{7146A196-D2AE-448F-96E6-AD4DC69F36FD}" presName="bgRect" presStyleLbl="bgShp" presStyleIdx="4" presStyleCnt="5"/>
      <dgm:spPr/>
    </dgm:pt>
    <dgm:pt modelId="{0E0F4753-EAF2-46A9-988D-DF34182D25EF}" type="pres">
      <dgm:prSet presAssocID="{7146A196-D2AE-448F-96E6-AD4DC69F36F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Image"/>
        </a:ext>
      </dgm:extLst>
    </dgm:pt>
    <dgm:pt modelId="{00B2CB3D-F5E4-4F75-9809-74EDB264D711}" type="pres">
      <dgm:prSet presAssocID="{7146A196-D2AE-448F-96E6-AD4DC69F36FD}" presName="spaceRect" presStyleCnt="0"/>
      <dgm:spPr/>
    </dgm:pt>
    <dgm:pt modelId="{A13EC3A3-963D-4B77-821F-2FB182F0116D}" type="pres">
      <dgm:prSet presAssocID="{7146A196-D2AE-448F-96E6-AD4DC69F36FD}" presName="parTx" presStyleLbl="revTx" presStyleIdx="4" presStyleCnt="5">
        <dgm:presLayoutVars>
          <dgm:chMax val="0"/>
          <dgm:chPref val="0"/>
        </dgm:presLayoutVars>
      </dgm:prSet>
      <dgm:spPr/>
    </dgm:pt>
  </dgm:ptLst>
  <dgm:cxnLst>
    <dgm:cxn modelId="{23E3CA05-12B4-44FD-BE36-4300CFBB1E2F}" srcId="{186A17F6-FD66-46E2-A038-14AF113B7753}" destId="{7146A196-D2AE-448F-96E6-AD4DC69F36FD}" srcOrd="4" destOrd="0" parTransId="{F841DE0C-C6F6-4EC8-AD0E-5B8E8E0D7592}" sibTransId="{FCEA4CCC-6E3C-4461-A315-69482B528932}"/>
    <dgm:cxn modelId="{35FD2F0C-24B0-48C0-BE03-F1962EA56CC7}" srcId="{186A17F6-FD66-46E2-A038-14AF113B7753}" destId="{3B131C85-67F2-4445-A413-9D5D8DE0AAA1}" srcOrd="2" destOrd="0" parTransId="{1EF689E0-4045-42AB-9164-32359ADD300F}" sibTransId="{60336402-2FD0-414D-846D-D7EDC68DAA6E}"/>
    <dgm:cxn modelId="{C357AA18-8E61-4E6A-8A7A-0271160BE4F7}" srcId="{186A17F6-FD66-46E2-A038-14AF113B7753}" destId="{666BA179-930E-4C71-A54C-8F2A88EB1086}" srcOrd="1" destOrd="0" parTransId="{DD0595E3-806A-4415-84A5-E08BBB6B1C53}" sibTransId="{70A9589F-EA66-42E9-8F17-ABAC2B4C3B24}"/>
    <dgm:cxn modelId="{EEC42B6E-260D-432D-B18C-16DF40ADFBE8}" type="presOf" srcId="{3B131C85-67F2-4445-A413-9D5D8DE0AAA1}" destId="{CDBFB734-3FB8-48E6-BB48-B0765B33DA9B}" srcOrd="0" destOrd="0" presId="urn:microsoft.com/office/officeart/2018/2/layout/IconVerticalSolidList"/>
    <dgm:cxn modelId="{2B29CA72-4CB2-4204-98DC-704AED40B4A0}" type="presOf" srcId="{78E7BE43-F768-4DAA-87E1-F2E7FA933A23}" destId="{8E1B0A56-A581-4FC9-A2AA-EB5BFCA0252B}" srcOrd="0" destOrd="0" presId="urn:microsoft.com/office/officeart/2018/2/layout/IconVerticalSolidList"/>
    <dgm:cxn modelId="{91222075-9AAD-430E-8BD5-172EAA7C6204}" srcId="{186A17F6-FD66-46E2-A038-14AF113B7753}" destId="{78E7BE43-F768-4DAA-87E1-F2E7FA933A23}" srcOrd="3" destOrd="0" parTransId="{A0EEB0E5-2C45-43E3-B934-3CE95FA19E7B}" sibTransId="{56E94649-4EF4-4542-B13B-303B88B7AB4F}"/>
    <dgm:cxn modelId="{0B522459-864E-4CEC-B765-43FFD3F8ABB4}" type="presOf" srcId="{7146A196-D2AE-448F-96E6-AD4DC69F36FD}" destId="{A13EC3A3-963D-4B77-821F-2FB182F0116D}" srcOrd="0" destOrd="0" presId="urn:microsoft.com/office/officeart/2018/2/layout/IconVerticalSolidList"/>
    <dgm:cxn modelId="{E6FDA19F-2C0C-46F7-9BD9-834BE555D413}" type="presOf" srcId="{666BA179-930E-4C71-A54C-8F2A88EB1086}" destId="{A2F31820-C6A9-4975-A38C-ABFAD0D45492}" srcOrd="0" destOrd="0" presId="urn:microsoft.com/office/officeart/2018/2/layout/IconVerticalSolidList"/>
    <dgm:cxn modelId="{8A3B83A1-FE28-4CEA-BF41-2D4E80456032}" type="presOf" srcId="{D9381241-7C54-44F2-BC88-A27D203775B9}" destId="{29AF8858-C27D-4612-971E-6C47C335A490}" srcOrd="0" destOrd="0" presId="urn:microsoft.com/office/officeart/2018/2/layout/IconVerticalSolidList"/>
    <dgm:cxn modelId="{B67624A7-DDA0-4A86-AEE2-60A2BAE5C5F9}" srcId="{186A17F6-FD66-46E2-A038-14AF113B7753}" destId="{D9381241-7C54-44F2-BC88-A27D203775B9}" srcOrd="0" destOrd="0" parTransId="{FC33B64F-2EA8-4DAB-9BDD-0D7D69B91B83}" sibTransId="{FD917248-92CE-4558-9853-B9BB4B29D80C}"/>
    <dgm:cxn modelId="{5D6F4AF8-E819-4711-B939-605A5729E43D}" type="presOf" srcId="{186A17F6-FD66-46E2-A038-14AF113B7753}" destId="{4B90B3BC-2A31-4A79-A226-B57CEC824E37}" srcOrd="0" destOrd="0" presId="urn:microsoft.com/office/officeart/2018/2/layout/IconVerticalSolidList"/>
    <dgm:cxn modelId="{54343389-1C06-47C4-9815-18842F1CC50C}" type="presParOf" srcId="{4B90B3BC-2A31-4A79-A226-B57CEC824E37}" destId="{43B2A8C8-218D-4EA8-9954-D1BA29FBA13E}" srcOrd="0" destOrd="0" presId="urn:microsoft.com/office/officeart/2018/2/layout/IconVerticalSolidList"/>
    <dgm:cxn modelId="{C6B99A06-0821-4703-AA96-202009C3F228}" type="presParOf" srcId="{43B2A8C8-218D-4EA8-9954-D1BA29FBA13E}" destId="{4E31E602-8043-4E65-8F49-632CC0F53028}" srcOrd="0" destOrd="0" presId="urn:microsoft.com/office/officeart/2018/2/layout/IconVerticalSolidList"/>
    <dgm:cxn modelId="{4C825C0B-1CF2-4951-9DE9-0894F7F8E04C}" type="presParOf" srcId="{43B2A8C8-218D-4EA8-9954-D1BA29FBA13E}" destId="{36F811F8-5A3D-4F14-A180-1EB38318A3F4}" srcOrd="1" destOrd="0" presId="urn:microsoft.com/office/officeart/2018/2/layout/IconVerticalSolidList"/>
    <dgm:cxn modelId="{EA29C963-628D-4EB2-96A0-6D858F370EC8}" type="presParOf" srcId="{43B2A8C8-218D-4EA8-9954-D1BA29FBA13E}" destId="{798D7FF9-98E3-4F10-B717-07B165C6720C}" srcOrd="2" destOrd="0" presId="urn:microsoft.com/office/officeart/2018/2/layout/IconVerticalSolidList"/>
    <dgm:cxn modelId="{FB63B8E5-8788-477A-9E94-B73F7EF1AC8A}" type="presParOf" srcId="{43B2A8C8-218D-4EA8-9954-D1BA29FBA13E}" destId="{29AF8858-C27D-4612-971E-6C47C335A490}" srcOrd="3" destOrd="0" presId="urn:microsoft.com/office/officeart/2018/2/layout/IconVerticalSolidList"/>
    <dgm:cxn modelId="{5ADC1432-F92F-4718-BDD8-B439D7CD99BD}" type="presParOf" srcId="{4B90B3BC-2A31-4A79-A226-B57CEC824E37}" destId="{537CCF4E-0B81-418C-BB73-72B063569039}" srcOrd="1" destOrd="0" presId="urn:microsoft.com/office/officeart/2018/2/layout/IconVerticalSolidList"/>
    <dgm:cxn modelId="{CBD6BA77-9F72-45A5-B699-BC41E56B1827}" type="presParOf" srcId="{4B90B3BC-2A31-4A79-A226-B57CEC824E37}" destId="{B7719C02-5C59-4F0F-889C-3A5CDECE3BC9}" srcOrd="2" destOrd="0" presId="urn:microsoft.com/office/officeart/2018/2/layout/IconVerticalSolidList"/>
    <dgm:cxn modelId="{7E87E3BE-5C93-469E-BEF6-09D16FBFE581}" type="presParOf" srcId="{B7719C02-5C59-4F0F-889C-3A5CDECE3BC9}" destId="{902FB0FC-84A4-4695-BEC5-567A9D2F912A}" srcOrd="0" destOrd="0" presId="urn:microsoft.com/office/officeart/2018/2/layout/IconVerticalSolidList"/>
    <dgm:cxn modelId="{366C6BEA-6A80-4976-8538-A06CC9E7CADD}" type="presParOf" srcId="{B7719C02-5C59-4F0F-889C-3A5CDECE3BC9}" destId="{AA99DE95-57DE-4253-B397-B3D3F199AF08}" srcOrd="1" destOrd="0" presId="urn:microsoft.com/office/officeart/2018/2/layout/IconVerticalSolidList"/>
    <dgm:cxn modelId="{590919A3-236E-43F7-BFC0-CF60CC583457}" type="presParOf" srcId="{B7719C02-5C59-4F0F-889C-3A5CDECE3BC9}" destId="{CC3E0759-C84B-498E-A887-F1E4BF593B59}" srcOrd="2" destOrd="0" presId="urn:microsoft.com/office/officeart/2018/2/layout/IconVerticalSolidList"/>
    <dgm:cxn modelId="{875B578A-1EAA-4359-B302-30A7955B3656}" type="presParOf" srcId="{B7719C02-5C59-4F0F-889C-3A5CDECE3BC9}" destId="{A2F31820-C6A9-4975-A38C-ABFAD0D45492}" srcOrd="3" destOrd="0" presId="urn:microsoft.com/office/officeart/2018/2/layout/IconVerticalSolidList"/>
    <dgm:cxn modelId="{1F7690EB-6906-4101-B137-B56CB3BD27A6}" type="presParOf" srcId="{4B90B3BC-2A31-4A79-A226-B57CEC824E37}" destId="{68119B36-806A-4626-8567-D51BA283A769}" srcOrd="3" destOrd="0" presId="urn:microsoft.com/office/officeart/2018/2/layout/IconVerticalSolidList"/>
    <dgm:cxn modelId="{44ACD91F-2C92-4A50-97FC-478480834C1F}" type="presParOf" srcId="{4B90B3BC-2A31-4A79-A226-B57CEC824E37}" destId="{546A5DF6-D5A4-4AC3-9F44-99E3AAC13E3F}" srcOrd="4" destOrd="0" presId="urn:microsoft.com/office/officeart/2018/2/layout/IconVerticalSolidList"/>
    <dgm:cxn modelId="{3A41D4D9-8050-40B5-89C7-CBA77DACF649}" type="presParOf" srcId="{546A5DF6-D5A4-4AC3-9F44-99E3AAC13E3F}" destId="{1A22A31D-9290-49DB-9A1E-2A0DE13EC8E4}" srcOrd="0" destOrd="0" presId="urn:microsoft.com/office/officeart/2018/2/layout/IconVerticalSolidList"/>
    <dgm:cxn modelId="{A166B809-4909-4212-BD1A-CCE50C89B882}" type="presParOf" srcId="{546A5DF6-D5A4-4AC3-9F44-99E3AAC13E3F}" destId="{2C8B9A05-9855-4C0F-9178-8FDF9A6E173D}" srcOrd="1" destOrd="0" presId="urn:microsoft.com/office/officeart/2018/2/layout/IconVerticalSolidList"/>
    <dgm:cxn modelId="{5FBD82A3-BCB9-49BC-884E-545B53193F29}" type="presParOf" srcId="{546A5DF6-D5A4-4AC3-9F44-99E3AAC13E3F}" destId="{F5B78D5C-B742-4668-83EA-F4D3D5A63480}" srcOrd="2" destOrd="0" presId="urn:microsoft.com/office/officeart/2018/2/layout/IconVerticalSolidList"/>
    <dgm:cxn modelId="{89D5CDC9-AF0D-47F2-A6C8-1F087676F59A}" type="presParOf" srcId="{546A5DF6-D5A4-4AC3-9F44-99E3AAC13E3F}" destId="{CDBFB734-3FB8-48E6-BB48-B0765B33DA9B}" srcOrd="3" destOrd="0" presId="urn:microsoft.com/office/officeart/2018/2/layout/IconVerticalSolidList"/>
    <dgm:cxn modelId="{8148A4B8-A36A-47D8-83DA-055AC7495833}" type="presParOf" srcId="{4B90B3BC-2A31-4A79-A226-B57CEC824E37}" destId="{ADC4DEA6-FE13-4ED5-A84D-3E9FD955FDF5}" srcOrd="5" destOrd="0" presId="urn:microsoft.com/office/officeart/2018/2/layout/IconVerticalSolidList"/>
    <dgm:cxn modelId="{701E945E-6422-4711-AC9C-B19338CED279}" type="presParOf" srcId="{4B90B3BC-2A31-4A79-A226-B57CEC824E37}" destId="{AFD0D46D-BF90-41F9-86DE-710D27E11779}" srcOrd="6" destOrd="0" presId="urn:microsoft.com/office/officeart/2018/2/layout/IconVerticalSolidList"/>
    <dgm:cxn modelId="{E384663E-2859-4CED-8753-84FE20F00A12}" type="presParOf" srcId="{AFD0D46D-BF90-41F9-86DE-710D27E11779}" destId="{32F6F21D-E48C-4A3C-8BE1-4D0848CDD2E5}" srcOrd="0" destOrd="0" presId="urn:microsoft.com/office/officeart/2018/2/layout/IconVerticalSolidList"/>
    <dgm:cxn modelId="{46EFE9E1-5047-490F-A7BA-77440AAECEAF}" type="presParOf" srcId="{AFD0D46D-BF90-41F9-86DE-710D27E11779}" destId="{3A17D2CC-9BF7-492D-A191-C8182A4E78D8}" srcOrd="1" destOrd="0" presId="urn:microsoft.com/office/officeart/2018/2/layout/IconVerticalSolidList"/>
    <dgm:cxn modelId="{E7987EDB-D1F0-4C14-994C-221D94555641}" type="presParOf" srcId="{AFD0D46D-BF90-41F9-86DE-710D27E11779}" destId="{CA3F72F0-C5A0-46EF-B16F-C906B86E5232}" srcOrd="2" destOrd="0" presId="urn:microsoft.com/office/officeart/2018/2/layout/IconVerticalSolidList"/>
    <dgm:cxn modelId="{9565F362-7F54-4D6E-AE39-7AC71A291B52}" type="presParOf" srcId="{AFD0D46D-BF90-41F9-86DE-710D27E11779}" destId="{8E1B0A56-A581-4FC9-A2AA-EB5BFCA0252B}" srcOrd="3" destOrd="0" presId="urn:microsoft.com/office/officeart/2018/2/layout/IconVerticalSolidList"/>
    <dgm:cxn modelId="{8689A802-0604-48AC-A33D-CF8579B00B79}" type="presParOf" srcId="{4B90B3BC-2A31-4A79-A226-B57CEC824E37}" destId="{F287DAE4-B5A4-4C21-AAB9-4C69A3193E85}" srcOrd="7" destOrd="0" presId="urn:microsoft.com/office/officeart/2018/2/layout/IconVerticalSolidList"/>
    <dgm:cxn modelId="{A9B603E9-3F3C-4BA4-B59A-88E28ABF9B53}" type="presParOf" srcId="{4B90B3BC-2A31-4A79-A226-B57CEC824E37}" destId="{6F25D4D2-CA23-40E6-B0DB-225D24ACB7EB}" srcOrd="8" destOrd="0" presId="urn:microsoft.com/office/officeart/2018/2/layout/IconVerticalSolidList"/>
    <dgm:cxn modelId="{81775D30-3931-45BA-BCCE-50B415B39B9A}" type="presParOf" srcId="{6F25D4D2-CA23-40E6-B0DB-225D24ACB7EB}" destId="{CEE4F905-296E-4F3A-AB7F-1A1D7E008F0A}" srcOrd="0" destOrd="0" presId="urn:microsoft.com/office/officeart/2018/2/layout/IconVerticalSolidList"/>
    <dgm:cxn modelId="{F4EA8370-9F23-4417-88D7-69D9E2923518}" type="presParOf" srcId="{6F25D4D2-CA23-40E6-B0DB-225D24ACB7EB}" destId="{0E0F4753-EAF2-46A9-988D-DF34182D25EF}" srcOrd="1" destOrd="0" presId="urn:microsoft.com/office/officeart/2018/2/layout/IconVerticalSolidList"/>
    <dgm:cxn modelId="{8F3A8B43-55AB-4EDD-94A5-7EB8AB4CA8C0}" type="presParOf" srcId="{6F25D4D2-CA23-40E6-B0DB-225D24ACB7EB}" destId="{00B2CB3D-F5E4-4F75-9809-74EDB264D711}" srcOrd="2" destOrd="0" presId="urn:microsoft.com/office/officeart/2018/2/layout/IconVerticalSolidList"/>
    <dgm:cxn modelId="{B53AA383-B997-470B-AF05-1CD75DF067D4}" type="presParOf" srcId="{6F25D4D2-CA23-40E6-B0DB-225D24ACB7EB}" destId="{A13EC3A3-963D-4B77-821F-2FB182F0116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1E602-8043-4E65-8F49-632CC0F53028}">
      <dsp:nvSpPr>
        <dsp:cNvPr id="0" name=""/>
        <dsp:cNvSpPr/>
      </dsp:nvSpPr>
      <dsp:spPr>
        <a:xfrm>
          <a:off x="0" y="4323"/>
          <a:ext cx="12050804" cy="92091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811F8-5A3D-4F14-A180-1EB38318A3F4}">
      <dsp:nvSpPr>
        <dsp:cNvPr id="0" name=""/>
        <dsp:cNvSpPr/>
      </dsp:nvSpPr>
      <dsp:spPr>
        <a:xfrm>
          <a:off x="278576" y="211529"/>
          <a:ext cx="506503" cy="5065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AF8858-C27D-4612-971E-6C47C335A490}">
      <dsp:nvSpPr>
        <dsp:cNvPr id="0" name=""/>
        <dsp:cNvSpPr/>
      </dsp:nvSpPr>
      <dsp:spPr>
        <a:xfrm>
          <a:off x="1063657" y="4323"/>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89000">
            <a:lnSpc>
              <a:spcPct val="100000"/>
            </a:lnSpc>
            <a:spcBef>
              <a:spcPct val="0"/>
            </a:spcBef>
            <a:spcAft>
              <a:spcPct val="35000"/>
            </a:spcAft>
            <a:buNone/>
          </a:pPr>
          <a:r>
            <a:rPr lang="en-GB" sz="2000" b="1" kern="1200" dirty="0"/>
            <a:t>Google's Nano Banana is an advanced AI image editing model introduced as part of the Gemini 2.5 Flash Image suite by Google DeepMind. Launched in August 2025.</a:t>
          </a:r>
          <a:endParaRPr lang="en-US" sz="2000" kern="1200" dirty="0"/>
        </a:p>
      </dsp:txBody>
      <dsp:txXfrm>
        <a:off x="1063657" y="4323"/>
        <a:ext cx="10987146" cy="920915"/>
      </dsp:txXfrm>
    </dsp:sp>
    <dsp:sp modelId="{902FB0FC-84A4-4695-BEC5-567A9D2F912A}">
      <dsp:nvSpPr>
        <dsp:cNvPr id="0" name=""/>
        <dsp:cNvSpPr/>
      </dsp:nvSpPr>
      <dsp:spPr>
        <a:xfrm>
          <a:off x="0" y="1155467"/>
          <a:ext cx="12050804" cy="92091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9DE95-57DE-4253-B397-B3D3F199AF08}">
      <dsp:nvSpPr>
        <dsp:cNvPr id="0" name=""/>
        <dsp:cNvSpPr/>
      </dsp:nvSpPr>
      <dsp:spPr>
        <a:xfrm>
          <a:off x="278576" y="1362673"/>
          <a:ext cx="506503" cy="5065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F31820-C6A9-4975-A38C-ABFAD0D45492}">
      <dsp:nvSpPr>
        <dsp:cNvPr id="0" name=""/>
        <dsp:cNvSpPr/>
      </dsp:nvSpPr>
      <dsp:spPr>
        <a:xfrm>
          <a:off x="1063657" y="1155467"/>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Edit Images with Text</a:t>
          </a:r>
          <a:r>
            <a:rPr lang="en-GB" sz="1800" kern="1200" dirty="0"/>
            <a:t>: Modify photos by describing changes in natural language. For instance, you can prompt it to "turn this selfie into a cinematic studio portrait" or "add a soft shadow underneath the shoes."</a:t>
          </a:r>
          <a:endParaRPr lang="en-US" sz="1800" kern="1200" dirty="0"/>
        </a:p>
      </dsp:txBody>
      <dsp:txXfrm>
        <a:off x="1063657" y="1155467"/>
        <a:ext cx="10987146" cy="920915"/>
      </dsp:txXfrm>
    </dsp:sp>
    <dsp:sp modelId="{1A22A31D-9290-49DB-9A1E-2A0DE13EC8E4}">
      <dsp:nvSpPr>
        <dsp:cNvPr id="0" name=""/>
        <dsp:cNvSpPr/>
      </dsp:nvSpPr>
      <dsp:spPr>
        <a:xfrm>
          <a:off x="0" y="2306612"/>
          <a:ext cx="12050804" cy="92091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8B9A05-9855-4C0F-9178-8FDF9A6E173D}">
      <dsp:nvSpPr>
        <dsp:cNvPr id="0" name=""/>
        <dsp:cNvSpPr/>
      </dsp:nvSpPr>
      <dsp:spPr>
        <a:xfrm>
          <a:off x="278576" y="2513818"/>
          <a:ext cx="506503" cy="5065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BFB734-3FB8-48E6-BB48-B0765B33DA9B}">
      <dsp:nvSpPr>
        <dsp:cNvPr id="0" name=""/>
        <dsp:cNvSpPr/>
      </dsp:nvSpPr>
      <dsp:spPr>
        <a:xfrm>
          <a:off x="1063657" y="2306612"/>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Maintain Character Consistency</a:t>
          </a:r>
          <a:r>
            <a:rPr lang="en-GB" sz="1800" kern="1200" dirty="0"/>
            <a:t>: Ensure that subjects remain consistent across different poses, lighting, and environments, preserving their likeness in various edits.</a:t>
          </a:r>
          <a:endParaRPr lang="en-US" sz="1800" kern="1200" dirty="0"/>
        </a:p>
      </dsp:txBody>
      <dsp:txXfrm>
        <a:off x="1063657" y="2306612"/>
        <a:ext cx="10987146" cy="920915"/>
      </dsp:txXfrm>
    </dsp:sp>
    <dsp:sp modelId="{32F6F21D-E48C-4A3C-8BE1-4D0848CDD2E5}">
      <dsp:nvSpPr>
        <dsp:cNvPr id="0" name=""/>
        <dsp:cNvSpPr/>
      </dsp:nvSpPr>
      <dsp:spPr>
        <a:xfrm>
          <a:off x="0" y="3457756"/>
          <a:ext cx="12050804" cy="92091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7D2CC-9BF7-492D-A191-C8182A4E78D8}">
      <dsp:nvSpPr>
        <dsp:cNvPr id="0" name=""/>
        <dsp:cNvSpPr/>
      </dsp:nvSpPr>
      <dsp:spPr>
        <a:xfrm>
          <a:off x="278576" y="3664962"/>
          <a:ext cx="506503" cy="5065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1B0A56-A581-4FC9-A2AA-EB5BFCA0252B}">
      <dsp:nvSpPr>
        <dsp:cNvPr id="0" name=""/>
        <dsp:cNvSpPr/>
      </dsp:nvSpPr>
      <dsp:spPr>
        <a:xfrm>
          <a:off x="1063657" y="3457756"/>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Blend Multiple Images</a:t>
          </a:r>
          <a:r>
            <a:rPr lang="en-GB" sz="1800" kern="1200" dirty="0"/>
            <a:t>: Combine elements from different photos to create unique, unified compositions.</a:t>
          </a:r>
          <a:endParaRPr lang="en-US" sz="1800" kern="1200" dirty="0"/>
        </a:p>
      </dsp:txBody>
      <dsp:txXfrm>
        <a:off x="1063657" y="3457756"/>
        <a:ext cx="10987146" cy="920915"/>
      </dsp:txXfrm>
    </dsp:sp>
    <dsp:sp modelId="{CEE4F905-296E-4F3A-AB7F-1A1D7E008F0A}">
      <dsp:nvSpPr>
        <dsp:cNvPr id="0" name=""/>
        <dsp:cNvSpPr/>
      </dsp:nvSpPr>
      <dsp:spPr>
        <a:xfrm>
          <a:off x="0" y="4608900"/>
          <a:ext cx="12050804" cy="92091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0F4753-EAF2-46A9-988D-DF34182D25EF}">
      <dsp:nvSpPr>
        <dsp:cNvPr id="0" name=""/>
        <dsp:cNvSpPr/>
      </dsp:nvSpPr>
      <dsp:spPr>
        <a:xfrm>
          <a:off x="278576" y="4816106"/>
          <a:ext cx="506503" cy="5065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EC3A3-963D-4B77-821F-2FB182F0116D}">
      <dsp:nvSpPr>
        <dsp:cNvPr id="0" name=""/>
        <dsp:cNvSpPr/>
      </dsp:nvSpPr>
      <dsp:spPr>
        <a:xfrm>
          <a:off x="1063657" y="4608900"/>
          <a:ext cx="10987146" cy="920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464" tIns="97464" rIns="97464" bIns="97464" numCol="1" spcCol="1270" anchor="ctr" anchorCtr="0">
          <a:noAutofit/>
        </a:bodyPr>
        <a:lstStyle/>
        <a:p>
          <a:pPr marL="0" lvl="0" indent="0" algn="l" defTabSz="800100">
            <a:lnSpc>
              <a:spcPct val="100000"/>
            </a:lnSpc>
            <a:spcBef>
              <a:spcPct val="0"/>
            </a:spcBef>
            <a:spcAft>
              <a:spcPct val="35000"/>
            </a:spcAft>
            <a:buNone/>
          </a:pPr>
          <a:r>
            <a:rPr lang="en-GB" sz="1800" b="1" kern="1200" dirty="0"/>
            <a:t>Real-World Reasoning</a:t>
          </a:r>
          <a:r>
            <a:rPr lang="en-GB" sz="1800" kern="1200" dirty="0"/>
            <a:t>: Apply real-world logic to edits, such as adjusting lighting or shadows to match the scene's context.</a:t>
          </a:r>
          <a:endParaRPr lang="en-US" sz="1800" kern="1200" dirty="0"/>
        </a:p>
      </dsp:txBody>
      <dsp:txXfrm>
        <a:off x="1063657" y="4608900"/>
        <a:ext cx="10987146" cy="9209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pPr/>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pPr/>
              <a:t>21/11/2025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pPr/>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istudio.google.com/models/gemini-2-5-flash-imag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ellow banana in yellow background">
            <a:extLst>
              <a:ext uri="{FF2B5EF4-FFF2-40B4-BE49-F238E27FC236}">
                <a16:creationId xmlns:a16="http://schemas.microsoft.com/office/drawing/2014/main" id="{0E7590A1-A385-E29C-4FA6-6BF7748FAC4D}"/>
              </a:ext>
            </a:extLst>
          </p:cNvPr>
          <p:cNvPicPr>
            <a:picLocks noChangeAspect="1"/>
          </p:cNvPicPr>
          <p:nvPr/>
        </p:nvPicPr>
        <p:blipFill>
          <a:blip r:embed="rId2">
            <a:alphaModFix amt="50000"/>
          </a:blip>
          <a:srcRect t="15709" r="-1" b="-1"/>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id="{C47ECEB1-5DD1-5C7D-AA92-BA1C8C80EE56}"/>
              </a:ext>
            </a:extLst>
          </p:cNvPr>
          <p:cNvSpPr>
            <a:spLocks noGrp="1"/>
          </p:cNvSpPr>
          <p:nvPr>
            <p:ph type="ctrTitle"/>
          </p:nvPr>
        </p:nvSpPr>
        <p:spPr>
          <a:xfrm>
            <a:off x="1527048" y="1124712"/>
            <a:ext cx="9144000" cy="3063240"/>
          </a:xfrm>
        </p:spPr>
        <p:txBody>
          <a:bodyPr>
            <a:normAutofit/>
          </a:bodyPr>
          <a:lstStyle/>
          <a:p>
            <a:r>
              <a:rPr lang="en-GB" sz="6600" dirty="0">
                <a:solidFill>
                  <a:schemeClr val="bg1"/>
                </a:solidFill>
              </a:rPr>
              <a:t>NANO BANANA INTEGRATION WITH N8N AGENT</a:t>
            </a:r>
          </a:p>
        </p:txBody>
      </p:sp>
      <p:sp>
        <p:nvSpPr>
          <p:cNvPr id="25"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477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9B56B5-F98E-81ED-0BD1-787BF98EC9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2FE52-6339-868B-B759-B5ACA1CE8601}"/>
              </a:ext>
            </a:extLst>
          </p:cNvPr>
          <p:cNvSpPr>
            <a:spLocks noGrp="1"/>
          </p:cNvSpPr>
          <p:nvPr>
            <p:ph type="title"/>
          </p:nvPr>
        </p:nvSpPr>
        <p:spPr>
          <a:xfrm>
            <a:off x="292160" y="-1703"/>
            <a:ext cx="7940308" cy="1149455"/>
          </a:xfrm>
        </p:spPr>
        <p:txBody>
          <a:bodyPr anchor="b">
            <a:noAutofit/>
          </a:bodyPr>
          <a:lstStyle/>
          <a:p>
            <a:r>
              <a:rPr lang="en-GB" sz="4800" b="1" dirty="0">
                <a:highlight>
                  <a:srgbClr val="FFFF00"/>
                </a:highlight>
              </a:rPr>
              <a:t>What is Nano Banana?</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F3513F-04EB-F693-8473-CD828BBEBA22}"/>
              </a:ext>
            </a:extLst>
          </p:cNvPr>
          <p:cNvGraphicFramePr>
            <a:graphicFrameLocks noGrp="1"/>
          </p:cNvGraphicFramePr>
          <p:nvPr>
            <p:ph idx="1"/>
            <p:extLst>
              <p:ext uri="{D42A27DB-BD31-4B8C-83A1-F6EECF244321}">
                <p14:modId xmlns:p14="http://schemas.microsoft.com/office/powerpoint/2010/main" val="4171763184"/>
              </p:ext>
            </p:extLst>
          </p:nvPr>
        </p:nvGraphicFramePr>
        <p:xfrm>
          <a:off x="143436" y="1321149"/>
          <a:ext cx="12050804" cy="5534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2673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A06C3D-B750-9B6E-399A-016D7A56E37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D1383-65FA-6E4E-A137-E12B54B4EB51}"/>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NANO BANANA REAL TIME USE CASE</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Content Placeholder 2">
            <a:extLst>
              <a:ext uri="{FF2B5EF4-FFF2-40B4-BE49-F238E27FC236}">
                <a16:creationId xmlns:a16="http://schemas.microsoft.com/office/drawing/2014/main" id="{9EACEE6B-9473-0920-E1A5-DBED6436ECE3}"/>
              </a:ext>
            </a:extLst>
          </p:cNvPr>
          <p:cNvSpPr>
            <a:spLocks noGrp="1"/>
          </p:cNvSpPr>
          <p:nvPr>
            <p:ph idx="1"/>
          </p:nvPr>
        </p:nvSpPr>
        <p:spPr>
          <a:xfrm>
            <a:off x="4160179" y="6040"/>
            <a:ext cx="8032924" cy="6866661"/>
          </a:xfrm>
        </p:spPr>
        <p:txBody>
          <a:bodyPr vert="horz" lIns="91440" tIns="45720" rIns="91440" bIns="45720" rtlCol="0" anchor="ctr">
            <a:noAutofit/>
          </a:bodyPr>
          <a:lstStyle/>
          <a:p>
            <a:pPr>
              <a:spcBef>
                <a:spcPts val="300"/>
              </a:spcBef>
            </a:pPr>
            <a:r>
              <a:rPr lang="en-GB" sz="1400" dirty="0">
                <a:solidFill>
                  <a:schemeClr val="bg1"/>
                </a:solidFill>
                <a:highlight>
                  <a:srgbClr val="800080"/>
                </a:highlight>
              </a:rPr>
              <a:t>1️⃣ Marketing &amp; Advertising</a:t>
            </a:r>
            <a:endParaRPr lang="en-US" sz="1400">
              <a:solidFill>
                <a:schemeClr val="bg1"/>
              </a:solidFill>
              <a:highlight>
                <a:srgbClr val="800080"/>
              </a:highlight>
            </a:endParaRPr>
          </a:p>
          <a:p>
            <a:pPr>
              <a:spcBef>
                <a:spcPts val="300"/>
              </a:spcBef>
            </a:pPr>
            <a:r>
              <a:rPr lang="en-GB" sz="1400" b="1" dirty="0">
                <a:ea typeface="+mn-lt"/>
                <a:cs typeface="+mn-lt"/>
              </a:rPr>
              <a:t>Personalized Campaigns:</a:t>
            </a:r>
            <a:r>
              <a:rPr lang="en-GB" sz="1400" dirty="0">
                <a:ea typeface="+mn-lt"/>
                <a:cs typeface="+mn-lt"/>
              </a:rPr>
              <a:t> Create custom visuals for target audiences quickly using text prompts.  </a:t>
            </a:r>
            <a:r>
              <a:rPr lang="en-GB" sz="1400" i="1" dirty="0">
                <a:ea typeface="+mn-lt"/>
                <a:cs typeface="+mn-lt"/>
              </a:rPr>
              <a:t>Example:</a:t>
            </a:r>
            <a:r>
              <a:rPr lang="en-GB" sz="1400" dirty="0">
                <a:ea typeface="+mn-lt"/>
                <a:cs typeface="+mn-lt"/>
              </a:rPr>
              <a:t> A retail brand can generate seasonal product banners or ads automatically with different themes.  Generate multiple variants of images to test which design performs better in ads.</a:t>
            </a:r>
            <a:br>
              <a:rPr lang="en-US" sz="1400" dirty="0"/>
            </a:br>
            <a:r>
              <a:rPr lang="en-GB" sz="1400" dirty="0">
                <a:solidFill>
                  <a:schemeClr val="bg1"/>
                </a:solidFill>
                <a:highlight>
                  <a:srgbClr val="800080"/>
                </a:highlight>
              </a:rPr>
              <a:t>2️⃣ E-commerce &amp; Retail</a:t>
            </a:r>
            <a:endParaRPr lang="en-US" sz="1400">
              <a:solidFill>
                <a:schemeClr val="bg1"/>
              </a:solidFill>
            </a:endParaRPr>
          </a:p>
          <a:p>
            <a:pPr>
              <a:spcBef>
                <a:spcPts val="300"/>
              </a:spcBef>
            </a:pPr>
            <a:r>
              <a:rPr lang="en-GB" sz="1400" b="1" dirty="0">
                <a:ea typeface="+mn-lt"/>
                <a:cs typeface="+mn-lt"/>
              </a:rPr>
              <a:t>Product Image Enhancement:</a:t>
            </a:r>
            <a:r>
              <a:rPr lang="en-GB" sz="1400" dirty="0">
                <a:ea typeface="+mn-lt"/>
                <a:cs typeface="+mn-lt"/>
              </a:rPr>
              <a:t> Automatically clean, retouch, or stylize product photos for </a:t>
            </a:r>
            <a:r>
              <a:rPr lang="en-GB" sz="1400" dirty="0" err="1">
                <a:ea typeface="+mn-lt"/>
                <a:cs typeface="+mn-lt"/>
              </a:rPr>
              <a:t>catalogs</a:t>
            </a:r>
            <a:r>
              <a:rPr lang="en-GB" sz="1400" dirty="0">
                <a:ea typeface="+mn-lt"/>
                <a:cs typeface="+mn-lt"/>
              </a:rPr>
              <a:t>. </a:t>
            </a:r>
            <a:r>
              <a:rPr lang="en-GB" sz="1400" b="1" dirty="0">
                <a:ea typeface="+mn-lt"/>
                <a:cs typeface="+mn-lt"/>
              </a:rPr>
              <a:t>Virtual Try-Ons:</a:t>
            </a:r>
            <a:r>
              <a:rPr lang="en-GB" sz="1400" dirty="0">
                <a:ea typeface="+mn-lt"/>
                <a:cs typeface="+mn-lt"/>
              </a:rPr>
              <a:t> Generate realistic previews of apparel, accessories, or makeup on users using AI-generated images.</a:t>
            </a:r>
            <a:br>
              <a:rPr lang="en-US" sz="1400" dirty="0"/>
            </a:br>
            <a:r>
              <a:rPr lang="en-GB" sz="1400" dirty="0">
                <a:solidFill>
                  <a:schemeClr val="bg1"/>
                </a:solidFill>
                <a:highlight>
                  <a:srgbClr val="800080"/>
                </a:highlight>
              </a:rPr>
              <a:t>3️⃣ Media &amp; Entertainment</a:t>
            </a:r>
            <a:endParaRPr lang="en-US" sz="1400">
              <a:solidFill>
                <a:schemeClr val="bg1"/>
              </a:solidFill>
            </a:endParaRPr>
          </a:p>
          <a:p>
            <a:pPr>
              <a:spcBef>
                <a:spcPts val="300"/>
              </a:spcBef>
            </a:pPr>
            <a:r>
              <a:rPr lang="en-GB" sz="1400" b="1" dirty="0">
                <a:ea typeface="+mn-lt"/>
                <a:cs typeface="+mn-lt"/>
              </a:rPr>
              <a:t>Film &amp; Animation Previews:</a:t>
            </a:r>
            <a:r>
              <a:rPr lang="en-GB" sz="1400" dirty="0">
                <a:ea typeface="+mn-lt"/>
                <a:cs typeface="+mn-lt"/>
              </a:rPr>
              <a:t> Generate concept art or storyboards from simple prompts.</a:t>
            </a:r>
            <a:endParaRPr lang="en-GB" sz="1400"/>
          </a:p>
          <a:p>
            <a:pPr>
              <a:spcBef>
                <a:spcPts val="300"/>
              </a:spcBef>
            </a:pPr>
            <a:r>
              <a:rPr lang="en-GB" sz="1400" b="1" dirty="0">
                <a:ea typeface="+mn-lt"/>
                <a:cs typeface="+mn-lt"/>
              </a:rPr>
              <a:t>Video Thumbnails &amp; Posters:</a:t>
            </a:r>
            <a:r>
              <a:rPr lang="en-GB" sz="1400" dirty="0">
                <a:ea typeface="+mn-lt"/>
                <a:cs typeface="+mn-lt"/>
              </a:rPr>
              <a:t> Create multiple thumbnail options for movies, shows, or YouTube videos efficiently.</a:t>
            </a:r>
            <a:br>
              <a:rPr lang="en-US" sz="1400" dirty="0"/>
            </a:br>
            <a:r>
              <a:rPr lang="en-GB" sz="1400" dirty="0">
                <a:solidFill>
                  <a:schemeClr val="bg1"/>
                </a:solidFill>
                <a:highlight>
                  <a:srgbClr val="800080"/>
                </a:highlight>
              </a:rPr>
              <a:t>4️⃣ Social Media &amp; Influencer Marketing</a:t>
            </a:r>
            <a:endParaRPr lang="en-US" sz="1400">
              <a:solidFill>
                <a:schemeClr val="bg1"/>
              </a:solidFill>
              <a:highlight>
                <a:srgbClr val="800080"/>
              </a:highlight>
            </a:endParaRPr>
          </a:p>
          <a:p>
            <a:pPr>
              <a:spcBef>
                <a:spcPts val="300"/>
              </a:spcBef>
            </a:pPr>
            <a:r>
              <a:rPr lang="en-GB" sz="1400" b="1" dirty="0">
                <a:ea typeface="+mn-lt"/>
                <a:cs typeface="+mn-lt"/>
              </a:rPr>
              <a:t>Content Generation:</a:t>
            </a:r>
            <a:r>
              <a:rPr lang="en-GB" sz="1400" dirty="0">
                <a:ea typeface="+mn-lt"/>
                <a:cs typeface="+mn-lt"/>
              </a:rPr>
              <a:t> Create consistent, high-quality images for posts or campaigns.</a:t>
            </a:r>
            <a:endParaRPr lang="en-GB" sz="1400"/>
          </a:p>
          <a:p>
            <a:pPr>
              <a:spcBef>
                <a:spcPts val="300"/>
              </a:spcBef>
            </a:pPr>
            <a:r>
              <a:rPr lang="en-GB" sz="1400" b="1" dirty="0">
                <a:ea typeface="+mn-lt"/>
                <a:cs typeface="+mn-lt"/>
              </a:rPr>
              <a:t>Trendy Challenges &amp; Campaigns:</a:t>
            </a:r>
            <a:r>
              <a:rPr lang="en-GB" sz="1400" dirty="0">
                <a:ea typeface="+mn-lt"/>
                <a:cs typeface="+mn-lt"/>
              </a:rPr>
              <a:t> Tools like Nano Banana can automate image-based challenges, such as “Hug My Younger Self,” driving engagement.</a:t>
            </a:r>
            <a:br>
              <a:rPr lang="en-US" sz="1400" dirty="0"/>
            </a:br>
            <a:r>
              <a:rPr lang="en-GB" sz="1400" dirty="0">
                <a:solidFill>
                  <a:schemeClr val="bg1"/>
                </a:solidFill>
                <a:highlight>
                  <a:srgbClr val="800080"/>
                </a:highlight>
              </a:rPr>
              <a:t>5️⃣ Design &amp; Creative Agencies</a:t>
            </a:r>
            <a:endParaRPr lang="en-US" sz="1400">
              <a:solidFill>
                <a:schemeClr val="bg1"/>
              </a:solidFill>
            </a:endParaRPr>
          </a:p>
          <a:p>
            <a:pPr>
              <a:spcBef>
                <a:spcPts val="300"/>
              </a:spcBef>
            </a:pPr>
            <a:r>
              <a:rPr lang="en-GB" sz="1400" b="1" dirty="0">
                <a:ea typeface="+mn-lt"/>
                <a:cs typeface="+mn-lt"/>
              </a:rPr>
              <a:t>Rapid Prototyping:</a:t>
            </a:r>
            <a:r>
              <a:rPr lang="en-GB" sz="1400" dirty="0">
                <a:ea typeface="+mn-lt"/>
                <a:cs typeface="+mn-lt"/>
              </a:rPr>
              <a:t> Quickly visualize ideas for clients without starting from scratch.</a:t>
            </a:r>
            <a:endParaRPr lang="en-GB" sz="1400"/>
          </a:p>
          <a:p>
            <a:pPr>
              <a:spcBef>
                <a:spcPts val="300"/>
              </a:spcBef>
            </a:pPr>
            <a:r>
              <a:rPr lang="en-GB" sz="1400" b="1" dirty="0">
                <a:ea typeface="+mn-lt"/>
                <a:cs typeface="+mn-lt"/>
              </a:rPr>
              <a:t>Consistency Across Campaigns:</a:t>
            </a:r>
            <a:r>
              <a:rPr lang="en-GB" sz="1400" dirty="0">
                <a:ea typeface="+mn-lt"/>
                <a:cs typeface="+mn-lt"/>
              </a:rPr>
              <a:t> Maintain character or theme consistency across multiple campaigns and platforms.</a:t>
            </a:r>
            <a:br>
              <a:rPr lang="en-US" sz="1400" dirty="0"/>
            </a:br>
            <a:r>
              <a:rPr lang="en-GB" sz="1400" dirty="0">
                <a:solidFill>
                  <a:schemeClr val="bg1"/>
                </a:solidFill>
                <a:highlight>
                  <a:srgbClr val="800080"/>
                </a:highlight>
              </a:rPr>
              <a:t>6️⃣ Real-Time Industrial Applications</a:t>
            </a:r>
            <a:endParaRPr lang="en-US" sz="1400" dirty="0">
              <a:solidFill>
                <a:schemeClr val="bg1"/>
              </a:solidFill>
              <a:highlight>
                <a:srgbClr val="800080"/>
              </a:highlight>
            </a:endParaRPr>
          </a:p>
          <a:p>
            <a:pPr>
              <a:spcBef>
                <a:spcPts val="300"/>
              </a:spcBef>
            </a:pPr>
            <a:r>
              <a:rPr lang="en-GB" sz="1400" b="1" dirty="0">
                <a:ea typeface="+mn-lt"/>
                <a:cs typeface="+mn-lt"/>
              </a:rPr>
              <a:t>Fashion &amp; Apparel:</a:t>
            </a:r>
            <a:r>
              <a:rPr lang="en-GB" sz="1400" dirty="0">
                <a:ea typeface="+mn-lt"/>
                <a:cs typeface="+mn-lt"/>
              </a:rPr>
              <a:t> AI-generated designs for fabrics or new product concepts.</a:t>
            </a:r>
            <a:endParaRPr lang="en-GB" sz="1400"/>
          </a:p>
          <a:p>
            <a:pPr>
              <a:spcBef>
                <a:spcPts val="300"/>
              </a:spcBef>
            </a:pPr>
            <a:r>
              <a:rPr lang="en-GB" sz="1400" b="1" dirty="0">
                <a:ea typeface="+mn-lt"/>
                <a:cs typeface="+mn-lt"/>
              </a:rPr>
              <a:t>Automotive &amp; Manufacturing:</a:t>
            </a:r>
            <a:r>
              <a:rPr lang="en-GB" sz="1400" dirty="0">
                <a:ea typeface="+mn-lt"/>
                <a:cs typeface="+mn-lt"/>
              </a:rPr>
              <a:t> Simulate how products look under different conditions (lighting, angles, environments). </a:t>
            </a:r>
            <a:r>
              <a:rPr lang="en-GB" sz="1400" b="1" dirty="0">
                <a:ea typeface="+mn-lt"/>
                <a:cs typeface="+mn-lt"/>
              </a:rPr>
              <a:t>Architecture &amp; Interior Design:</a:t>
            </a:r>
            <a:r>
              <a:rPr lang="en-GB" sz="1400" dirty="0">
                <a:ea typeface="+mn-lt"/>
                <a:cs typeface="+mn-lt"/>
              </a:rPr>
              <a:t> Generate realistic renderings of spaces based on text descriptions.</a:t>
            </a:r>
            <a:endParaRPr lang="en-GB" sz="1400"/>
          </a:p>
          <a:p>
            <a:pPr>
              <a:spcBef>
                <a:spcPts val="300"/>
              </a:spcBef>
            </a:pPr>
            <a:r>
              <a:rPr lang="en-GB" sz="1400" dirty="0">
                <a:solidFill>
                  <a:schemeClr val="bg1"/>
                </a:solidFill>
                <a:highlight>
                  <a:srgbClr val="800080"/>
                </a:highlight>
              </a:rPr>
              <a:t>7️⃣ Benefits for Organizations</a:t>
            </a:r>
          </a:p>
          <a:p>
            <a:pPr>
              <a:spcBef>
                <a:spcPts val="300"/>
              </a:spcBef>
            </a:pPr>
            <a:r>
              <a:rPr lang="en-GB" sz="1400" b="1" dirty="0">
                <a:ea typeface="+mn-lt"/>
                <a:cs typeface="+mn-lt"/>
              </a:rPr>
              <a:t>Faster Production:</a:t>
            </a:r>
            <a:r>
              <a:rPr lang="en-GB" sz="1400" dirty="0">
                <a:ea typeface="+mn-lt"/>
                <a:cs typeface="+mn-lt"/>
              </a:rPr>
              <a:t> Reduces the time required for image creation.</a:t>
            </a:r>
            <a:endParaRPr lang="en-GB" sz="1400"/>
          </a:p>
          <a:p>
            <a:pPr>
              <a:spcBef>
                <a:spcPts val="300"/>
              </a:spcBef>
            </a:pPr>
            <a:r>
              <a:rPr lang="en-GB" sz="1400" b="1" dirty="0">
                <a:ea typeface="+mn-lt"/>
                <a:cs typeface="+mn-lt"/>
              </a:rPr>
              <a:t>Cost Savings:</a:t>
            </a:r>
            <a:r>
              <a:rPr lang="en-GB" sz="1400" dirty="0">
                <a:ea typeface="+mn-lt"/>
                <a:cs typeface="+mn-lt"/>
              </a:rPr>
              <a:t> Minimizes the need for large design teams for routine visual tasks.</a:t>
            </a:r>
            <a:endParaRPr lang="en-GB" sz="1400"/>
          </a:p>
          <a:p>
            <a:pPr>
              <a:spcBef>
                <a:spcPts val="300"/>
              </a:spcBef>
            </a:pPr>
            <a:r>
              <a:rPr lang="en-GB" sz="1400" b="1" dirty="0">
                <a:ea typeface="+mn-lt"/>
                <a:cs typeface="+mn-lt"/>
              </a:rPr>
              <a:t>Innovation:</a:t>
            </a:r>
            <a:r>
              <a:rPr lang="en-GB" sz="1400" dirty="0">
                <a:ea typeface="+mn-lt"/>
                <a:cs typeface="+mn-lt"/>
              </a:rPr>
              <a:t> Supports creative experimentation without physical constraints.</a:t>
            </a:r>
            <a:endParaRPr lang="en-GB" sz="1400"/>
          </a:p>
          <a:p>
            <a:pPr>
              <a:spcBef>
                <a:spcPts val="300"/>
              </a:spcBef>
            </a:pPr>
            <a:r>
              <a:rPr lang="en-GB" sz="1400" b="1" dirty="0">
                <a:ea typeface="+mn-lt"/>
                <a:cs typeface="+mn-lt"/>
              </a:rPr>
              <a:t>Scalability:</a:t>
            </a:r>
            <a:r>
              <a:rPr lang="en-GB" sz="1400" dirty="0">
                <a:ea typeface="+mn-lt"/>
                <a:cs typeface="+mn-lt"/>
              </a:rPr>
              <a:t> Can generate hundreds of visuals in minutes for global campaigns.</a:t>
            </a:r>
            <a:endParaRPr lang="en-GB" sz="1400"/>
          </a:p>
        </p:txBody>
      </p:sp>
    </p:spTree>
    <p:extLst>
      <p:ext uri="{BB962C8B-B14F-4D97-AF65-F5344CB8AC3E}">
        <p14:creationId xmlns:p14="http://schemas.microsoft.com/office/powerpoint/2010/main" val="134508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E35967-DD1A-13FA-AC3B-E3089A07FA8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5789E5-9F4E-8D63-9A58-A0BEB187E9D3}"/>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Explore more about Nano Banana  </a:t>
            </a:r>
          </a:p>
        </p:txBody>
      </p:sp>
      <p:sp>
        <p:nvSpPr>
          <p:cNvPr id="3" name="Content Placeholder 2">
            <a:extLst>
              <a:ext uri="{FF2B5EF4-FFF2-40B4-BE49-F238E27FC236}">
                <a16:creationId xmlns:a16="http://schemas.microsoft.com/office/drawing/2014/main" id="{4FBADA07-0A90-D02E-C942-A9BF5B519963}"/>
              </a:ext>
            </a:extLst>
          </p:cNvPr>
          <p:cNvSpPr>
            <a:spLocks noGrp="1"/>
          </p:cNvSpPr>
          <p:nvPr>
            <p:ph idx="1"/>
          </p:nvPr>
        </p:nvSpPr>
        <p:spPr>
          <a:xfrm>
            <a:off x="4158694" y="8959"/>
            <a:ext cx="8035172" cy="6849176"/>
          </a:xfrm>
        </p:spPr>
        <p:txBody>
          <a:bodyPr vert="horz" lIns="91440" tIns="45720" rIns="91440" bIns="45720" rtlCol="0" anchor="ctr">
            <a:normAutofit/>
          </a:bodyPr>
          <a:lstStyle/>
          <a:p>
            <a:pPr marL="0" indent="0">
              <a:buNone/>
            </a:pPr>
            <a:r>
              <a:rPr lang="en-GB" sz="2000" dirty="0">
                <a:ea typeface="+mn-lt"/>
                <a:cs typeface="+mn-lt"/>
                <a:hlinkClick r:id="rId2"/>
              </a:rPr>
              <a:t>https://aistudio.google.com/models/gemini-2-5-flash-image</a:t>
            </a:r>
            <a:endParaRPr lang="en-GB" sz="2000">
              <a:ea typeface="+mn-lt"/>
              <a:cs typeface="+mn-lt"/>
            </a:endParaRPr>
          </a:p>
          <a:p>
            <a:pPr marL="0" indent="0">
              <a:buNone/>
            </a:pPr>
            <a:r>
              <a:rPr lang="en-GB" sz="2000" b="1" dirty="0">
                <a:solidFill>
                  <a:schemeClr val="bg1"/>
                </a:solidFill>
                <a:highlight>
                  <a:srgbClr val="800080"/>
                </a:highlight>
                <a:latin typeface="Times New Roman"/>
                <a:cs typeface="Times New Roman"/>
              </a:rPr>
              <a:t>People &amp; Portraits</a:t>
            </a:r>
            <a:endParaRPr lang="en-GB" sz="2000">
              <a:solidFill>
                <a:schemeClr val="bg1"/>
              </a:solidFill>
              <a:highlight>
                <a:srgbClr val="800080"/>
              </a:highlight>
            </a:endParaRPr>
          </a:p>
          <a:p>
            <a:r>
              <a:rPr lang="en-GB" sz="2000" i="1" dirty="0">
                <a:latin typeface="Times New Roman"/>
                <a:cs typeface="Times New Roman"/>
              </a:rPr>
              <a:t>“A smiling boy wearing a red cap in a green park, photo style.”</a:t>
            </a:r>
            <a:endParaRPr lang="en-GB" sz="2000" dirty="0"/>
          </a:p>
          <a:p>
            <a:r>
              <a:rPr lang="en-GB" sz="2000" i="1" dirty="0">
                <a:latin typeface="Times New Roman"/>
                <a:cs typeface="Times New Roman"/>
              </a:rPr>
              <a:t>“A cartoon picture of a girl reading a book under a tree on a sunny day.”</a:t>
            </a:r>
            <a:endParaRPr lang="en-GB" sz="2000" dirty="0"/>
          </a:p>
          <a:p>
            <a:pPr marL="0" indent="0">
              <a:buNone/>
            </a:pPr>
            <a:r>
              <a:rPr lang="en-GB" sz="2000" b="1" dirty="0">
                <a:solidFill>
                  <a:schemeClr val="bg1"/>
                </a:solidFill>
                <a:highlight>
                  <a:srgbClr val="800080"/>
                </a:highlight>
                <a:latin typeface="Times New Roman"/>
                <a:cs typeface="Times New Roman"/>
              </a:rPr>
              <a:t>Animals &amp; Pets</a:t>
            </a:r>
          </a:p>
          <a:p>
            <a:r>
              <a:rPr lang="en-GB" sz="2000" i="1" dirty="0">
                <a:latin typeface="Times New Roman"/>
                <a:cs typeface="Times New Roman"/>
              </a:rPr>
              <a:t>“A puppy wearing sunglasses on the beach, funny and cute.”</a:t>
            </a:r>
            <a:endParaRPr lang="en-GB" sz="2000" dirty="0"/>
          </a:p>
          <a:p>
            <a:r>
              <a:rPr lang="en-GB" sz="2000" i="1" dirty="0">
                <a:latin typeface="Times New Roman"/>
                <a:cs typeface="Times New Roman"/>
              </a:rPr>
              <a:t>“A baby panda eating bamboo in a forest, realistic photo.”</a:t>
            </a:r>
            <a:endParaRPr lang="en-GB" sz="2000" dirty="0"/>
          </a:p>
          <a:p>
            <a:pPr marL="0" indent="0">
              <a:buNone/>
            </a:pPr>
            <a:r>
              <a:rPr lang="en-GB" sz="2000" b="1" dirty="0">
                <a:solidFill>
                  <a:schemeClr val="bg1"/>
                </a:solidFill>
                <a:highlight>
                  <a:srgbClr val="800080"/>
                </a:highlight>
                <a:latin typeface="Times New Roman"/>
                <a:cs typeface="Times New Roman"/>
              </a:rPr>
              <a:t>Fantasy &amp; Creative</a:t>
            </a:r>
          </a:p>
          <a:p>
            <a:r>
              <a:rPr lang="en-GB" sz="2000" i="1" dirty="0">
                <a:latin typeface="Times New Roman"/>
                <a:cs typeface="Times New Roman"/>
              </a:rPr>
              <a:t>“A big castle floating in the clouds with waterfalls, magical and </a:t>
            </a:r>
            <a:r>
              <a:rPr lang="en-GB" sz="2000" i="1" err="1">
                <a:latin typeface="Times New Roman"/>
                <a:cs typeface="Times New Roman"/>
              </a:rPr>
              <a:t>colorful</a:t>
            </a:r>
            <a:r>
              <a:rPr lang="en-GB" sz="2000" i="1" dirty="0">
                <a:latin typeface="Times New Roman"/>
                <a:cs typeface="Times New Roman"/>
              </a:rPr>
              <a:t>.”</a:t>
            </a:r>
            <a:endParaRPr lang="en-GB" sz="2000" dirty="0"/>
          </a:p>
          <a:p>
            <a:r>
              <a:rPr lang="en-GB" sz="2000" i="1" dirty="0">
                <a:latin typeface="Times New Roman"/>
                <a:cs typeface="Times New Roman"/>
              </a:rPr>
              <a:t>“A flying car above a future city with glowing lights, sci-fi style.”</a:t>
            </a:r>
            <a:endParaRPr lang="en-GB" sz="2000" dirty="0"/>
          </a:p>
          <a:p>
            <a:pPr marL="0" indent="0">
              <a:buNone/>
            </a:pPr>
            <a:r>
              <a:rPr lang="en-GB" sz="2000" b="1" dirty="0">
                <a:solidFill>
                  <a:schemeClr val="bg1"/>
                </a:solidFill>
                <a:highlight>
                  <a:srgbClr val="800080"/>
                </a:highlight>
                <a:latin typeface="Times New Roman"/>
                <a:cs typeface="Times New Roman"/>
              </a:rPr>
              <a:t>Nature &amp; Travel</a:t>
            </a:r>
          </a:p>
          <a:p>
            <a:r>
              <a:rPr lang="en-GB" sz="2000" i="1" dirty="0">
                <a:latin typeface="Times New Roman"/>
                <a:cs typeface="Times New Roman"/>
              </a:rPr>
              <a:t>“A snow mountain with a small wooden house, peaceful and quiet.”</a:t>
            </a:r>
            <a:endParaRPr lang="en-GB" sz="2000" dirty="0"/>
          </a:p>
          <a:p>
            <a:r>
              <a:rPr lang="en-GB" sz="2000" i="1" dirty="0">
                <a:latin typeface="Times New Roman"/>
                <a:cs typeface="Times New Roman"/>
              </a:rPr>
              <a:t>“The Eiffel Tower at night with fireworks in the sky.”</a:t>
            </a:r>
            <a:endParaRPr lang="en-GB" sz="2000" dirty="0"/>
          </a:p>
          <a:p>
            <a:pPr marL="0" indent="0">
              <a:buNone/>
            </a:pPr>
            <a:r>
              <a:rPr lang="en-GB" sz="2000" b="1" dirty="0">
                <a:solidFill>
                  <a:schemeClr val="bg1"/>
                </a:solidFill>
                <a:highlight>
                  <a:srgbClr val="800080"/>
                </a:highlight>
                <a:latin typeface="Times New Roman"/>
                <a:cs typeface="Times New Roman"/>
              </a:rPr>
              <a:t>Posters with Text</a:t>
            </a:r>
          </a:p>
          <a:p>
            <a:r>
              <a:rPr lang="en-GB" sz="2000" i="1" dirty="0">
                <a:latin typeface="Times New Roman"/>
                <a:cs typeface="Times New Roman"/>
              </a:rPr>
              <a:t>“A bright poster with the words ‘Happy Birthday’, balloons and cake.”</a:t>
            </a:r>
            <a:endParaRPr lang="en-GB" sz="2000" dirty="0"/>
          </a:p>
          <a:p>
            <a:r>
              <a:rPr lang="en-GB" sz="2000" i="1" dirty="0">
                <a:latin typeface="Times New Roman"/>
                <a:cs typeface="Times New Roman"/>
              </a:rPr>
              <a:t>“A festival poster with the words ‘Music Night 2025’, neon </a:t>
            </a:r>
            <a:r>
              <a:rPr lang="en-GB" sz="2000" i="1" dirty="0" err="1">
                <a:latin typeface="Times New Roman"/>
                <a:cs typeface="Times New Roman"/>
              </a:rPr>
              <a:t>colors</a:t>
            </a:r>
            <a:r>
              <a:rPr lang="en-GB" sz="2000" i="1" dirty="0">
                <a:latin typeface="Times New Roman"/>
                <a:cs typeface="Times New Roman"/>
              </a:rPr>
              <a:t>, party style.”</a:t>
            </a:r>
            <a:endParaRPr lang="en-GB" sz="2000" dirty="0"/>
          </a:p>
        </p:txBody>
      </p:sp>
    </p:spTree>
    <p:extLst>
      <p:ext uri="{BB962C8B-B14F-4D97-AF65-F5344CB8AC3E}">
        <p14:creationId xmlns:p14="http://schemas.microsoft.com/office/powerpoint/2010/main" val="393594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AAA50E0C-68D3-1962-5E28-819263CD5F8C}"/>
              </a:ext>
            </a:extLst>
          </p:cNvPr>
          <p:cNvSpPr>
            <a:spLocks noGrp="1"/>
          </p:cNvSpPr>
          <p:nvPr>
            <p:ph type="title"/>
          </p:nvPr>
        </p:nvSpPr>
        <p:spPr>
          <a:xfrm>
            <a:off x="1813111" y="669925"/>
            <a:ext cx="4912358" cy="854917"/>
          </a:xfrm>
        </p:spPr>
        <p:txBody>
          <a:bodyPr anchor="b">
            <a:normAutofit fontScale="90000"/>
          </a:bodyPr>
          <a:lstStyle/>
          <a:p>
            <a:pPr algn="r"/>
            <a:r>
              <a:rPr lang="en-GB">
                <a:solidFill>
                  <a:schemeClr val="bg1"/>
                </a:solidFill>
                <a:highlight>
                  <a:srgbClr val="800080"/>
                </a:highlight>
              </a:rPr>
              <a:t>Prompts with Image</a:t>
            </a:r>
          </a:p>
        </p:txBody>
      </p:sp>
      <p:cxnSp>
        <p:nvCxnSpPr>
          <p:cNvPr id="89" name="Straight Connector 88">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9344D4B-1706-9593-8B92-9AE4596611E3}"/>
              </a:ext>
            </a:extLst>
          </p:cNvPr>
          <p:cNvSpPr>
            <a:spLocks noGrp="1"/>
          </p:cNvSpPr>
          <p:nvPr>
            <p:ph idx="1"/>
          </p:nvPr>
        </p:nvSpPr>
        <p:spPr>
          <a:xfrm>
            <a:off x="675491" y="2275693"/>
            <a:ext cx="10448813" cy="4164878"/>
          </a:xfrm>
        </p:spPr>
        <p:txBody>
          <a:bodyPr vert="horz" lIns="91440" tIns="45720" rIns="91440" bIns="45720" rtlCol="0">
            <a:normAutofit/>
          </a:bodyPr>
          <a:lstStyle/>
          <a:p>
            <a:pPr marL="0" indent="0">
              <a:buNone/>
            </a:pPr>
            <a:r>
              <a:rPr lang="en-GB" sz="1300">
                <a:solidFill>
                  <a:schemeClr val="bg1"/>
                </a:solidFill>
              </a:rPr>
              <a:t>Upload your image -- </a:t>
            </a:r>
            <a:r>
              <a:rPr lang="en-GB" sz="1300">
                <a:solidFill>
                  <a:schemeClr val="bg1"/>
                </a:solidFill>
                <a:ea typeface="+mn-lt"/>
                <a:cs typeface="+mn-lt"/>
              </a:rPr>
              <a:t>Transform the characters in this picture into 1/7 scale collectible figurines, placed on a real desk with a computer, AI model setup, and toy  packaging in the background. Make the figurines highly detailed and realistic, accurately capturing facial expressions, clothing, and accessories. Include  realistic lighting, shadows, and reflections to integrate them naturally into the environment. Style the scene like a premium, commercial collectible photoshoot—vibrant, photorealistic, and cinematic—with subtle props such as notebooks, keyboard, and coffee cup. Make the composition visually striking and engaging enough to go viral on social media</a:t>
            </a:r>
            <a:endParaRPr lang="en-GB" sz="1300">
              <a:solidFill>
                <a:schemeClr val="bg1"/>
              </a:solidFill>
            </a:endParaRPr>
          </a:p>
          <a:p>
            <a:pPr marL="0" indent="0">
              <a:buNone/>
            </a:pPr>
            <a:r>
              <a:rPr lang="en-GB" sz="1300">
                <a:solidFill>
                  <a:schemeClr val="bg1"/>
                </a:solidFill>
                <a:ea typeface="+mn-lt"/>
                <a:cs typeface="+mn-lt"/>
              </a:rPr>
              <a:t>Using the nano-banana model, create a 1/7 scale commercialized figurine of the characters in the picture, in a realistic style, in a real environment. The figurine is placed on a computer desk. The figurine has a round transparent acrylic base, with no text on the base. The content on the computer screen is the brush modeling process of this figurine.Next to the computer screen is a BANDAl-style toy packaging box printed with the original artwork., The packaging features two-dimensional flat illustrations. Please turn this photo into afigure.Behind it, there should be a Model packaging box with the character from this photo printed on it. In front of thebox.on a round plastic baseplace the fiqure version of thephoto I gave you. I'd like the PVC material to be clearlyrepresented. It would be even better if the background is indoors.</a:t>
            </a:r>
          </a:p>
          <a:p>
            <a:pPr marL="0" indent="0">
              <a:buNone/>
            </a:pPr>
            <a:r>
              <a:rPr lang="en-GB" sz="1300">
                <a:solidFill>
                  <a:schemeClr val="bg1"/>
                </a:solidFill>
              </a:rPr>
              <a:t>Upload 2 image ( image &amp; black jacket) -- write this prompt -- Blend</a:t>
            </a:r>
            <a:r>
              <a:rPr lang="en-GB" sz="1300">
                <a:solidFill>
                  <a:schemeClr val="bg1"/>
                </a:solidFill>
                <a:ea typeface="+mn-lt"/>
                <a:cs typeface="+mn-lt"/>
              </a:rPr>
              <a:t> the two images so that I am wearing the jackets, making it look like I am actually wearing them. Match colors, lighting, shadows, and textures to make the result photorealistic and cinematic. Remove any glasses or specs, and ensure facial features are natural and seamlessly integrated with the jackets. Make the image look like a high-quality fashion photograph with realistic depth and reflections</a:t>
            </a:r>
          </a:p>
        </p:txBody>
      </p:sp>
      <p:sp>
        <p:nvSpPr>
          <p:cNvPr id="90" name="Rectangle 89">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61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FDE1A61-BE70-40C7-7355-1202DA546524}"/>
              </a:ext>
            </a:extLst>
          </p:cNvPr>
          <p:cNvPicPr>
            <a:picLocks noGrp="1" noChangeAspect="1"/>
          </p:cNvPicPr>
          <p:nvPr>
            <p:ph idx="1"/>
          </p:nvPr>
        </p:nvPicPr>
        <p:blipFill>
          <a:blip r:embed="rId2"/>
          <a:srcRect r="6666"/>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B36A17-4D25-72C5-8994-3A66B736C350}"/>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Nano Banana using Google AI Studio</a:t>
            </a:r>
          </a:p>
        </p:txBody>
      </p:sp>
      <p:cxnSp>
        <p:nvCxnSpPr>
          <p:cNvPr id="46" name="Straight Connector 45">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394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black background with white text&#10;&#10;AI-generated content may be incorrect.">
            <a:extLst>
              <a:ext uri="{FF2B5EF4-FFF2-40B4-BE49-F238E27FC236}">
                <a16:creationId xmlns:a16="http://schemas.microsoft.com/office/drawing/2014/main" id="{149EC16F-FD0E-8E2E-FF7C-DADAEB4B4477}"/>
              </a:ext>
            </a:extLst>
          </p:cNvPr>
          <p:cNvPicPr>
            <a:picLocks noChangeAspect="1"/>
          </p:cNvPicPr>
          <p:nvPr/>
        </p:nvPicPr>
        <p:blipFill>
          <a:blip r:embed="rId2"/>
          <a:srcRect r="1378"/>
          <a:stretch>
            <a:fillRect/>
          </a:stretch>
        </p:blipFill>
        <p:spPr>
          <a:xfrm>
            <a:off x="763016" y="685800"/>
            <a:ext cx="11202625" cy="5676900"/>
          </a:xfrm>
          <a:prstGeom prst="rect">
            <a:avLst/>
          </a:prstGeom>
        </p:spPr>
      </p:pic>
    </p:spTree>
    <p:extLst>
      <p:ext uri="{BB962C8B-B14F-4D97-AF65-F5344CB8AC3E}">
        <p14:creationId xmlns:p14="http://schemas.microsoft.com/office/powerpoint/2010/main" val="4247569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BE824-11BF-0494-7965-2521069DDC66}"/>
              </a:ext>
            </a:extLst>
          </p:cNvPr>
          <p:cNvSpPr>
            <a:spLocks noGrp="1"/>
          </p:cNvSpPr>
          <p:nvPr>
            <p:ph type="title"/>
          </p:nvPr>
        </p:nvSpPr>
        <p:spPr>
          <a:xfrm>
            <a:off x="838200" y="4669978"/>
            <a:ext cx="4391024" cy="1173700"/>
          </a:xfrm>
        </p:spPr>
        <p:txBody>
          <a:bodyPr anchor="t">
            <a:normAutofit/>
          </a:bodyPr>
          <a:lstStyle/>
          <a:p>
            <a:r>
              <a:rPr lang="en-GB" sz="4000" dirty="0">
                <a:solidFill>
                  <a:schemeClr val="bg1"/>
                </a:solidFill>
              </a:rPr>
              <a:t>About N8N </a:t>
            </a:r>
          </a:p>
        </p:txBody>
      </p:sp>
      <p:pic>
        <p:nvPicPr>
          <p:cNvPr id="4" name="Picture 3" descr="A screenshot of a computer&#10;&#10;AI-generated content may be incorrect.">
            <a:extLst>
              <a:ext uri="{FF2B5EF4-FFF2-40B4-BE49-F238E27FC236}">
                <a16:creationId xmlns:a16="http://schemas.microsoft.com/office/drawing/2014/main" id="{77508758-C80A-0994-3CB3-BC7E248EE6E7}"/>
              </a:ext>
            </a:extLst>
          </p:cNvPr>
          <p:cNvPicPr>
            <a:picLocks noChangeAspect="1"/>
          </p:cNvPicPr>
          <p:nvPr/>
        </p:nvPicPr>
        <p:blipFill>
          <a:blip r:embed="rId2"/>
          <a:srcRect t="11237" b="18473"/>
          <a:stretch>
            <a:fillRect/>
          </a:stretch>
        </p:blipFill>
        <p:spPr>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p:spPr>
      </p:pic>
      <p:grpSp>
        <p:nvGrpSpPr>
          <p:cNvPr id="16" name="Group 15">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12" name="Freeform: Shape 11">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2">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6846F5A9-31F6-3326-1C2E-6FB39F471BB4}"/>
              </a:ext>
            </a:extLst>
          </p:cNvPr>
          <p:cNvSpPr>
            <a:spLocks noGrp="1"/>
          </p:cNvSpPr>
          <p:nvPr>
            <p:ph idx="1"/>
          </p:nvPr>
        </p:nvSpPr>
        <p:spPr>
          <a:xfrm>
            <a:off x="3856894" y="4669978"/>
            <a:ext cx="6630620" cy="1945468"/>
          </a:xfrm>
        </p:spPr>
        <p:txBody>
          <a:bodyPr vert="horz" lIns="91440" tIns="45720" rIns="91440" bIns="45720" rtlCol="0" anchor="t">
            <a:normAutofit/>
          </a:bodyPr>
          <a:lstStyle/>
          <a:p>
            <a:pPr marL="0" indent="0">
              <a:buNone/>
            </a:pPr>
            <a:endParaRPr lang="en-GB" sz="1900" dirty="0">
              <a:solidFill>
                <a:schemeClr val="bg1">
                  <a:alpha val="80000"/>
                </a:schemeClr>
              </a:solidFill>
              <a:ea typeface="+mn-lt"/>
              <a:cs typeface="+mn-lt"/>
            </a:endParaRPr>
          </a:p>
          <a:p>
            <a:pPr marL="0" indent="0">
              <a:buNone/>
            </a:pPr>
            <a:r>
              <a:rPr lang="en-GB" sz="1900" dirty="0">
                <a:solidFill>
                  <a:schemeClr val="bg1">
                    <a:alpha val="80000"/>
                  </a:schemeClr>
                </a:solidFill>
                <a:ea typeface="+mn-lt"/>
                <a:cs typeface="+mn-lt"/>
              </a:rPr>
              <a:t>N8N is a workflow automation platform that uniquely combines AI capabilities with business process automation, giving technical teams the flexibility of code with the speed of no-code.</a:t>
            </a:r>
            <a:endParaRPr lang="en-US">
              <a:solidFill>
                <a:schemeClr val="bg1">
                  <a:alpha val="80000"/>
                </a:schemeClr>
              </a:solidFill>
            </a:endParaRPr>
          </a:p>
          <a:p>
            <a:endParaRPr lang="en-GB" sz="1900">
              <a:solidFill>
                <a:schemeClr val="bg1">
                  <a:alpha val="80000"/>
                </a:schemeClr>
              </a:solidFill>
            </a:endParaRPr>
          </a:p>
          <a:p>
            <a:endParaRPr lang="en-GB" sz="1900">
              <a:solidFill>
                <a:schemeClr val="bg1">
                  <a:alpha val="80000"/>
                </a:schemeClr>
              </a:solidFill>
            </a:endParaRPr>
          </a:p>
        </p:txBody>
      </p:sp>
    </p:spTree>
    <p:extLst>
      <p:ext uri="{BB962C8B-B14F-4D97-AF65-F5344CB8AC3E}">
        <p14:creationId xmlns:p14="http://schemas.microsoft.com/office/powerpoint/2010/main" val="802107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1038</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Times New Roman</vt:lpstr>
      <vt:lpstr>office theme</vt:lpstr>
      <vt:lpstr>NANO BANANA INTEGRATION WITH N8N AGENT</vt:lpstr>
      <vt:lpstr>What is Nano Banana?</vt:lpstr>
      <vt:lpstr>NANO BANANA REAL TIME USE CASE</vt:lpstr>
      <vt:lpstr>Explore more about Nano Banana  </vt:lpstr>
      <vt:lpstr>Prompts with Image</vt:lpstr>
      <vt:lpstr>Nano Banana using Google AI Studio</vt:lpstr>
      <vt:lpstr>PowerPoint Presentation</vt:lpstr>
      <vt:lpstr>About N8N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NANO BANANA INTEGRATION WITH N8N AGENT</dc:title>
  <dc:creator>MOHD SAMEER HUSSAIN</dc:creator>
  <cp:lastModifiedBy>Mohd Sameer Hussain</cp:lastModifiedBy>
  <cp:revision>587</cp:revision>
  <dcterms:created xsi:type="dcterms:W3CDTF">2025-09-20T16:14:01Z</dcterms:created>
  <dcterms:modified xsi:type="dcterms:W3CDTF">2025-11-21T18:15:28Z</dcterms:modified>
</cp:coreProperties>
</file>